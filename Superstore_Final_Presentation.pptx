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Superstore Sales Analytics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Analyst Internship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  →  EDA &amp; BI  →  Cohort Deep-Dive  →  Storytelling &amp; Hypothesis Testing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2015–2018  |  9,800 Orders  |  793 Customers  |  Total Sales: $2.26M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&amp; Project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Superstore focus to grow profitable, repeatable revenue?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Immersion &amp; Wrangling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and structured 9,800 raw orders into an analysis-ready dataset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 Business Intelligence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7490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Uncovered revenue patterns across region, category, and segment using SQL + visualization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2880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Deep-Dive: Cohort Analysis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7490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WHY those patterns exist — retention &amp; lifetime value by acquisition cohort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98280" y="2880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 &amp; Hypothesis Testing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37490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Statistically validated key findings and packaged results for stakeholders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Immersion &amp; Wrangling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 turning raw transactional data into an analysis-ready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1FA3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profiling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missing values, duplicate records, and inconsistent date/text formatting across 9,800 raw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1FA39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transformation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2971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date formats, resolved category/sub-category naming, removed duplicate order lines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1FA39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023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4023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Order Month, Order Weekday, and other fields to support downstream time-based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1FA39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74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5074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clean, documented dataset (with data dictionary) used as the single source of truth for Tasks 2–4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 Business Intelligence — Headline Numbers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642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$2.26M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2015–2018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6642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793 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642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order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89720" y="15544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6642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0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+20.3%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0" y="2331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→ 2018</a:t>
            </a:r>
            <a:endParaRPr lang="en-US" sz="900" dirty="0"/>
          </a:p>
        </p:txBody>
      </p:sp>
      <p:pic>
        <p:nvPicPr>
          <p:cNvPr id="20" name="Image 0" descr="year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80360"/>
            <a:ext cx="5394960" cy="3429000"/>
          </a:xfrm>
          <a:prstGeom prst="rect">
            <a:avLst/>
          </a:prstGeom>
        </p:spPr>
      </p:pic>
      <p:pic>
        <p:nvPicPr>
          <p:cNvPr id="21" name="Image 1" descr="region_sa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880360"/>
            <a:ext cx="5394960" cy="34290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Revenue Concentrates</a:t>
            </a:r>
            <a:endParaRPr lang="en-US" sz="2600" dirty="0"/>
          </a:p>
        </p:txBody>
      </p:sp>
      <p:pic>
        <p:nvPicPr>
          <p:cNvPr id="4" name="Image 0" descr="segment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55080" y="17373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segment drives 51% of total revenue — more than Corporate and Home Office combined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26974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26974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($328K) and Chairs ($323K) are the top two revenue sub-categories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3657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36576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($710K) and East ($670K) regions together generate over 60% of total sales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4617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55080" y="46177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region lags at $389K — a candidate for focused growth investment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for Business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via SQL queries with filtering, aggregation, and window functions</a:t>
            </a:r>
            <a:endParaRPr lang="en-US" sz="1300" dirty="0"/>
          </a:p>
        </p:txBody>
      </p:sp>
      <p:pic>
        <p:nvPicPr>
          <p:cNvPr id="5" name="Image 0" descr="top_sub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8288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products by revenue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22494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A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+ ORDER BY + LIMIT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2724912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7980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trend (2015–2018)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31455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A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functions + GROUP BY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72200" y="3621024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36941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sub-category within each category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40416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A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RANK() OVER (PARTITION BY …)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72200" y="4517136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4590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AOV by region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49377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A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(SUM, AVG)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72200" y="5413248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5486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mode usage by region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58338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A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Multi-column GROUP BY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Deep-Dive: Customer Retention by Cohort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WHY revenue concentrates where it does — through repeat-purchase behavior</a:t>
            </a:r>
            <a:endParaRPr lang="en-US" sz="1300" dirty="0"/>
          </a:p>
        </p:txBody>
      </p:sp>
      <p:pic>
        <p:nvPicPr>
          <p:cNvPr id="5" name="Image 0" descr="reten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86384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82880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0" y="1920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 RATE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869680" y="2194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732520" y="297180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3063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CUSTOMER LTV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86968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$2,852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732520" y="411480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0" y="4206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CUSTOMER LTV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869680" y="4480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$2,215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732520" y="53492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all customers return — growth depends more on acquisition volume than retention risk.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Lifetime Value Concentration</a:t>
            </a:r>
            <a:endParaRPr lang="en-US" sz="2600" dirty="0"/>
          </a:p>
        </p:txBody>
      </p:sp>
      <p:pic>
        <p:nvPicPr>
          <p:cNvPr id="4" name="Image 0" descr="ltv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52360" y="18288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0" y="18288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LTV per customer ($2,852) sits well above the median ($2,215) — a small group of high-value customers pulls the average up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52360" y="32004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32004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793 customers generated $2.26M over 4 years — roughly $2,850 in lifetime revenue per customer on average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52360" y="45720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4572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concentration suggests an account-based approach for top-decile customers could protect a disproportionate share of revenue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Validation: Segment Spending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(H₀)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difference in average order value between Consumer and Corporate customers.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USED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080" y="17830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Welch's independent two-sample t-test (unequal variance) on order-level Sales, Consumer (n=5,101) vs. Corporate (n=2,953).</a:t>
            </a:r>
            <a:endParaRPr lang="en-US" sz="1250" dirty="0"/>
          </a:p>
        </p:txBody>
      </p:sp>
      <p:pic>
        <p:nvPicPr>
          <p:cNvPr id="10" name="Image 0" descr="hypothesis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0"/>
            <a:ext cx="5394960" cy="36576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926080"/>
          <a:ext cx="5394960" cy="201168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t-statistic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-0.587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Significance threshold (α)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 to reject H₀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126480" y="50749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/>
        </p:spPr>
      </p:sp>
      <p:sp>
        <p:nvSpPr>
          <p:cNvPr id="13" name="Text 9"/>
          <p:cNvSpPr/>
          <p:nvPr/>
        </p:nvSpPr>
        <p:spPr>
          <a:xfrm>
            <a:off x="6355080" y="51937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CONCLUSION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355080" y="54681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statistically significant difference in spending per order between segments (p=0.56). Consumer's revenue lead comes from order volume, not higher-value transactions — growth strategy should target acquisition/frequency, not average basket size.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It All Together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task builds on the last to form one continuous argument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asked: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8288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data trustworthy enough to analyze?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cleaned &amp; structured 9,800 orders.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asked: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926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revenue concentrate?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0" y="29260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West/East regions, Consumer segment, Phones &amp; Chairs.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233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asked: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402336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concentrate there?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40233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Near-universal repeat buying (98.4%), not new-customer spikes.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120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asked: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512064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Consumer-segment lead just bigger baskets?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75120" y="51206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(p=0.56) — it's driven by order volume, not order size.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Superstore Should Do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South region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7373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Lowest-performing region ($389K) — test targeted marketing to close the gap with East/West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9260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acquisition over retention tactics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9260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 repeat rate shows retention isn't the bottleneck — growth = more new customers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148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41148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Phones &amp; Chairs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41148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two sub-categories by revenue — expand assortment or bundle promotions here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035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53035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over-index on segment-based pricing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53035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difference between Consumer/Corporate is not statistically significant (p=0.56)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51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analysis, notebooks, and dashboards available on GitHub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Software Pvt. Ltd. — Data Analytics Internship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2026-08-19T16:25:21Z</dcterms:created>
  <dcterms:modified xsi:type="dcterms:W3CDTF">2026-08-19T16:25:21Z</dcterms:modified>
</cp:coreProperties>
</file>